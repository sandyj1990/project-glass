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6858000" cx="12192000"/>
  <p:notesSz cx="6858000" cy="12192000"/>
  <p:embeddedFontLst>
    <p:embeddedFont>
      <p:font typeface="Inter"/>
      <p:regular r:id="rId18"/>
      <p:bold r:id="rId19"/>
      <p:italic r:id="rId20"/>
      <p:boldItalic r:id="rId21"/>
    </p:embeddedFont>
    <p:embeddedFont>
      <p:font typeface="Inter Medium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6" roundtripDataSignature="AMtx7mhOoumO55odfMuU/gRjiwRbr05QB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italic.fntdata"/><Relationship Id="rId22" Type="http://schemas.openxmlformats.org/officeDocument/2006/relationships/font" Target="fonts/InterMedium-regular.fntdata"/><Relationship Id="rId21" Type="http://schemas.openxmlformats.org/officeDocument/2006/relationships/font" Target="fonts/Inter-boldItalic.fntdata"/><Relationship Id="rId24" Type="http://schemas.openxmlformats.org/officeDocument/2006/relationships/font" Target="fonts/InterMedium-italic.fntdata"/><Relationship Id="rId23" Type="http://schemas.openxmlformats.org/officeDocument/2006/relationships/font" Target="fonts/InterMedium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customschemas.google.com/relationships/presentationmetadata" Target="metadata"/><Relationship Id="rId25" Type="http://schemas.openxmlformats.org/officeDocument/2006/relationships/font" Target="fonts/InterMedium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font" Target="fonts/Inter-bold.fntdata"/><Relationship Id="rId18" Type="http://schemas.openxmlformats.org/officeDocument/2006/relationships/font" Target="fonts/Inter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3b25d05a32c_0_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" name="Google Shape;22;g3b25d05a32c_0_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g3b25d05a32c_0_1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g3b28035ae18_0_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" name="Google Shape;27;g3b28035ae18_0_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g3b28035ae18_0_1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g3b28035ae18_0_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" name="Google Shape;32;g3b28035ae18_0_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g3b28035ae18_0_2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g3b28035ae18_0_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" name="Google Shape;37;g3b28035ae18_0_4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g3b28035ae18_0_4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3b28035ae18_0_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" name="Google Shape;44;g3b28035ae18_0_5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g3b28035ae18_0_5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b28035ae18_0_7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" name="Google Shape;49;g3b28035ae18_0_7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g3b28035ae18_0_7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b282da2c75_0_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g3b282da2c75_0_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g3b282da2c75_0_2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b4abf33779_0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b4abf33779_0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g3b4abf33779_0_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28035ae18_0_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28035ae18_0_5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g3b28035ae18_0_5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b28035ae18_1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b28035ae18_1_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g3b28035ae18_1_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b28035ae18_0_8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b28035ae18_0_8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g3b28035ae18_0_8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b28035ae18_0_9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b28035ae18_0_9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g3b28035ae18_0_9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2247350" y="2635325"/>
            <a:ext cx="8083800" cy="14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9165525" y="6413200"/>
            <a:ext cx="2701800" cy="37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400"/>
              <a:buFont typeface="Calibri"/>
              <a:buNone/>
            </a:pPr>
            <a:r>
              <a:t/>
            </a:r>
            <a:endParaRPr b="1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 txBox="1"/>
          <p:nvPr/>
        </p:nvSpPr>
        <p:spPr>
          <a:xfrm>
            <a:off x="344900" y="616817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Total Responses: 923</a:t>
            </a:r>
            <a:endParaRPr b="1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" name="Google Shape;19;p1"/>
          <p:cNvSpPr txBox="1"/>
          <p:nvPr/>
        </p:nvSpPr>
        <p:spPr>
          <a:xfrm>
            <a:off x="4387525" y="4187178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rPr>
              <a:t>DECEMBER 2025</a:t>
            </a:r>
            <a:endParaRPr>
              <a:solidFill>
                <a:schemeClr val="lt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3b28035ae18_0_41"/>
          <p:cNvSpPr/>
          <p:nvPr/>
        </p:nvSpPr>
        <p:spPr>
          <a:xfrm>
            <a:off x="5931575" y="5868675"/>
            <a:ext cx="5558700" cy="772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g3b28035ae18_0_41"/>
          <p:cNvSpPr txBox="1"/>
          <p:nvPr/>
        </p:nvSpPr>
        <p:spPr>
          <a:xfrm>
            <a:off x="5827329" y="5814675"/>
            <a:ext cx="5767200" cy="8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90500" marR="190500" rtl="0" algn="l">
              <a:lnSpc>
                <a:spcPct val="1466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While </a:t>
            </a:r>
            <a:r>
              <a:rPr b="1" lang="en-US" sz="115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~74% perceive leadership direction positively</a:t>
            </a:r>
            <a:r>
              <a:rPr lang="en-US" sz="115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, the neutral segment highlights an opportunity to improve visibility of AI priorities, roadmaps, and success stories</a:t>
            </a:r>
            <a:endParaRPr sz="115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b28035ae18_0_70"/>
          <p:cNvSpPr/>
          <p:nvPr/>
        </p:nvSpPr>
        <p:spPr>
          <a:xfrm>
            <a:off x="5546575" y="5546575"/>
            <a:ext cx="5606700" cy="938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Data exposure concerns are the single largest confidence gap, emphasizing the need for clear AI data governance and approved usage guidelines. </a:t>
            </a:r>
            <a:endParaRPr sz="115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3" name="Google Shape;53;g3b28035ae18_0_70"/>
          <p:cNvSpPr txBox="1"/>
          <p:nvPr/>
        </p:nvSpPr>
        <p:spPr>
          <a:xfrm>
            <a:off x="1319200" y="50057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2026-01-02T12:00:46Z</dcterms:created>
  <dc:creator>Fynd</dc:creator>
</cp:coreProperties>
</file>